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SEEMA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31520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The Compliance Problem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Your Firm Can't Afford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5200" b="1">
                <a:solidFill>
                  <a:srgbClr val="0891B2"/>
                </a:solidFill>
                <a:latin typeface="Calibri"/>
              </a:rPr>
              <a:t>To Ignore.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AI-Powered SRA Compliance Platform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Built Exclusively for UK Law Firms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Confidential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891B2"/>
                </a:solidFill>
                <a:latin typeface="Calibri"/>
              </a:rPr>
              <a:t>THE PROBLEM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SRA compliance is broken.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2468880" cy="237744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468880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2011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F4444"/>
                </a:solidFill>
                <a:latin typeface="Calibri"/>
              </a:rPr>
              <a:t>147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74720"/>
            <a:ext cx="2011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firms faced SRA
enforcement in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2103120"/>
            <a:ext cx="2468880" cy="237744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40" y="2103120"/>
            <a:ext cx="2468880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423160"/>
            <a:ext cx="2011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F4444"/>
                </a:solidFill>
                <a:latin typeface="Calibri"/>
              </a:rPr>
              <a:t>£17.5M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474720"/>
            <a:ext cx="2011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maximum ICO fine
under UK GDPR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103120"/>
            <a:ext cx="2468880" cy="237744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103120"/>
            <a:ext cx="246888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2011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59E0B"/>
                </a:solidFill>
                <a:latin typeface="Calibri"/>
              </a:rPr>
              <a:t>72hrs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74720"/>
            <a:ext cx="2011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to report a breach
or face penalties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2103120"/>
            <a:ext cx="2468880" cy="237744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2103120"/>
            <a:ext cx="2468880" cy="457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423160"/>
            <a:ext cx="2011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94A3B8"/>
                </a:solidFill>
                <a:latin typeface="Calibri"/>
              </a:rPr>
              <a:t>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474720"/>
            <a:ext cx="2011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of firms have &lt; 10
solicitors, same obligations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Your COLP is spending 12+ hours per week on manual compliance — time that should be spent practising law.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THE RISK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cost of doing nothing.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777240"/>
          </a:xfrm>
          <a:prstGeom prst="rect">
            <a:avLst/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4864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743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Missed regulatory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488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F4444"/>
                </a:solidFill>
                <a:latin typeface="Calibri"/>
              </a:rPr>
              <a:t>SRA fine: £10K–£50K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Your COLP reads the SRA website... when they remember 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10698480" cy="77724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54864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2743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Data breach with no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01752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F4444"/>
                </a:solidFill>
                <a:latin typeface="Calibri"/>
              </a:rPr>
              <a:t>ICO fine: up to £17.5M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72 hours to assess, report, and remediate. With a spreadsheet?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40"/>
            <a:ext cx="10698480" cy="777240"/>
          </a:xfrm>
          <a:prstGeom prst="rect">
            <a:avLst/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40"/>
            <a:ext cx="54864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86200"/>
            <a:ext cx="2743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Failed SRA inspection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88620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F4444"/>
                </a:solidFill>
                <a:latin typeface="Calibri"/>
              </a:rPr>
              <a:t>Intervention: up to £1M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8620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Inspector asks for your audit trail. You open a filing cabinet.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617720"/>
            <a:ext cx="10698480" cy="77724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617720"/>
            <a:ext cx="54864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54880"/>
            <a:ext cx="2743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Outdated compliance policies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75488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F4444"/>
                </a:solidFill>
                <a:latin typeface="Calibri"/>
              </a:rPr>
              <a:t>Regulatory action + PI 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Last reviewed 18 months ago. Regulations changed 6 times since.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486400"/>
            <a:ext cx="10698480" cy="777240"/>
          </a:xfrm>
          <a:prstGeom prst="rect">
            <a:avLst/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486400"/>
            <a:ext cx="54864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23560"/>
            <a:ext cx="2743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No compliance visibility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62356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F4444"/>
                </a:solidFill>
                <a:latin typeface="Calibri"/>
              </a:rPr>
              <a:t>Cumulative risk exposure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62356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Your managing partner asks: 'Are we compliant?' You don't know.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5 compliance workflows.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4800" b="1">
                <a:solidFill>
                  <a:srgbClr val="0891B2"/>
                </a:solidFill>
                <a:latin typeface="Calibri"/>
              </a:rPr>
              <a:t>One platform. Zero spreadsheets.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Seema replaces manual compliance processes with 5 structured,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AI-powered workflows — purpose-built for SRA-regulated law firms.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2011680" cy="640080"/>
          </a:xfrm>
          <a:prstGeom prst="rect">
            <a:avLst/>
          </a:prstGeom>
          <a:solidFill>
            <a:srgbClr val="162038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87952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91B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24528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4114800"/>
            <a:ext cx="2011680" cy="640080"/>
          </a:xfrm>
          <a:prstGeom prst="rect">
            <a:avLst/>
          </a:prstGeom>
          <a:solidFill>
            <a:srgbClr val="162038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4187952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91B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224528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Regulatory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4114800"/>
            <a:ext cx="2011680" cy="640080"/>
          </a:xfrm>
          <a:prstGeom prst="rect">
            <a:avLst/>
          </a:prstGeom>
          <a:solidFill>
            <a:srgbClr val="162038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4187952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91B2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4224528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Breach Reporting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4114800"/>
            <a:ext cx="2011680" cy="640080"/>
          </a:xfrm>
          <a:prstGeom prst="rect">
            <a:avLst/>
          </a:prstGeom>
          <a:solidFill>
            <a:srgbClr val="162038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4187952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91B2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224528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SRA Audit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4114800"/>
            <a:ext cx="2011680" cy="640080"/>
          </a:xfrm>
          <a:prstGeom prst="rect">
            <a:avLst/>
          </a:prstGeom>
          <a:solidFill>
            <a:srgbClr val="162038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4187952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91B2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4224528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Policy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Plus 16+ additional compliance modules: AML/KYC, conflict checks, complaints, CPD tracking, risk register, and more.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891B2"/>
                </a:solidFill>
                <a:latin typeface="Calibri"/>
              </a:rPr>
              <a:t>WORKFLOW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Your managing partner asks: 'Are we compliant?'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You have no single place to check. Compliance data lives in spreadsheets, emails, filing cabinets, and your COLP's head. No real-time visibility. No early warning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62038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SEEMA SOLVES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Real-time compliance health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42032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Across all SRA obligations, updated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4436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Critical alerts &amp; deadlines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004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Breach deadlines, overdue tasks, policy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602735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20+ automated background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85876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Celery-powered scheduling keeps everything 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261103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Firm-specific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517136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SRA number, COLP/COFA details, practice areas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Calibri"/>
              </a:rPr>
              <a:t>"One view. All obligations. Always current."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891B2"/>
                </a:solidFill>
                <a:latin typeface="Calibri"/>
              </a:rPr>
              <a:t>WORKFLOW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Regulatory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Five regulatory bodies. Weekly updates. One overworked COLP.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The SRA, ICO, HMRC, Law Society, and GOV.UK all publish updates that could affect your firm. Missing one could mean a fine. Your COLP checks when they have time — which isn't often enough.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62038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SEEMA SOLVES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 regulatory sources monitored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42032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SRA, ICO, HMRC, Law Society, GOV.UK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4436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Every 4 hours — 30 scans/day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004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Automated scrapers running 24/7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602735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AI impact analysis per 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85876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Tailored to YOUR practice areas &amp; obligations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261103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Action items with deadlines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517136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Specific steps, not generic advice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Calibri"/>
              </a:rPr>
              <a:t>"Your COLP reading SRA notices: hours. Seema analysing them: seconds."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891B2"/>
                </a:solidFill>
                <a:latin typeface="Calibri"/>
              </a:rPr>
              <a:t>WORKFLOW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Breach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72 hours. That's all the ICO gives you.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 misdirected email, a lost laptop, an unauthorised access — all reportable breaches under UK GDPR. You need to assess severity, determine if ICO notification is required, notify your COLP, and begin remediation. The clock starts immediately.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62038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SEEMA SOLVES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Auto-calculated ICO deadline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42032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72-hour countdown from the moment breach is logged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4436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Instant COLP email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004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Your compliance officer knows immediately — not tomorrow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602735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AI breach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85876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Assesses ICO notification requirement under Article 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261103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Prioritised remediation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517136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SRA implications, actions, deadlines — in 30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Calibri"/>
              </a:rPr>
              <a:t>"One step to log it. Everything else is automatic."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891B2"/>
                </a:solidFill>
                <a:latin typeface="Calibri"/>
              </a:rPr>
              <a:t>WORKFLOW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SRA Audit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SRA inspector arrives. Your COLP panics.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Annual return preparation takes days — gathering data from spreadsheets, emails, and filing cabinets. Audit trails are incomplete or non-existent. When the SRA asks 'show me your compliance records', the answer involves a lot of searching.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62038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SEEMA SOLVES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Pre-populated annual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42032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Data captured throughout the year, ready when you need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4436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Tamper-proof audit trails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004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Every action timestamped — who, what, when, 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602735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Always inspection-ready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85876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Open Seema, show the inspector. Done.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261103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COLP/COFA obligation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517136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Continuous monitoring, not annual scrambling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Calibri"/>
              </a:rPr>
              <a:t>"2-3 days of preparation, replaced by a single click."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891B2"/>
                </a:solidFill>
                <a:latin typeface="Calibri"/>
              </a:rPr>
              <a:t>WORKFLOW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Policy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 policy categories. Constant regulatory changes. Stale documents.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AML, data protection, equality &amp; diversity, anti-bribery, complaints handling, information security — each requires a comprehensive policy with proper UK regulatory references. Writing from scratch takes days. Most firms' policies are months or years out of 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62038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SEEMA SOLVES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AI generates in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42032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Comprehensive policies, not templates — real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4436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UK regulatory references built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004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POCA 2002, UK GDPR, Equality Act, Bribery 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602735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Review date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85876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Automatic reminders when policies are due for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261103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Human approval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517136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AI drafts, your expert reviews — never auto-published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Calibri"/>
              </a:rPr>
              <a:t>"Days of drafting, replaced by 30 seconds of AI generation + expert review."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891B2"/>
                </a:solidFill>
                <a:latin typeface="Calibri"/>
              </a:rPr>
              <a:t>UNDER THE HOOD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6 AI capabilities powering the 5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645920" cy="219456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64592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Regulatory
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Impact assessment
on your 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891B2"/>
                </a:solidFill>
                <a:latin typeface="Calibri"/>
              </a:rPr>
              <a:t>Workflow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8608" y="1828800"/>
            <a:ext cx="1645920" cy="219456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78608" y="1828800"/>
            <a:ext cx="164592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201168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Breach
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27432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ICO notification
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35204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891B2"/>
                </a:solidFill>
                <a:latin typeface="Calibri"/>
              </a:rPr>
              <a:t>Workflow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696" y="1828800"/>
            <a:ext cx="1645920" cy="219456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25696" y="1828800"/>
            <a:ext cx="164592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201168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Policy
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7432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UK regulatory
references built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35204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891B2"/>
                </a:solidFill>
                <a:latin typeface="Calibri"/>
              </a:rPr>
              <a:t>Workflow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4" y="1828800"/>
            <a:ext cx="1645920" cy="219456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2784" y="1828800"/>
            <a:ext cx="164592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201168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Compliance
Scanning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7432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Cross-module
risk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5204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891B2"/>
                </a:solidFill>
                <a:latin typeface="Calibri"/>
              </a:rPr>
              <a:t>All Workflows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9872" y="1828800"/>
            <a:ext cx="1645920" cy="219456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19872" y="1828800"/>
            <a:ext cx="164592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201168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Remediation
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27432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Prioritised actions
with deadlines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35204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891B2"/>
                </a:solidFill>
                <a:latin typeface="Calibri"/>
              </a:rPr>
              <a:t>Workflow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60" y="1828800"/>
            <a:ext cx="1645920" cy="219456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6960" y="1828800"/>
            <a:ext cx="164592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201168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Knowledge
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27432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Instant SRA
regulatory answers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35204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891B2"/>
                </a:solidFill>
                <a:latin typeface="Calibri"/>
              </a:rPr>
              <a:t>All Workflows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Powered by Anthropic Claude — one of the most advanced, safety-focused AI models available.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Human-in-the-loop: AI provides analysis, your qualified professionals make decisions.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891B2"/>
                </a:solidFill>
                <a:latin typeface="Calibri"/>
              </a:rPr>
              <a:t>BEYOND THE 5 WORKFLOWS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16+ additional compliance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AML / KYC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Conflict of Interest Checks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Complaints Handling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828800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92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Staff Competency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68880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468880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CPD 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468880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2468880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5603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Risk Register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468880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468880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5603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Undertakings Tracker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2468880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2468880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5603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File Review Scheduling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108960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108960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20040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Supervision Records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108960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4720" y="3108960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20040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Client Onboarding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108960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108960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20040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Source of Funds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3108960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61120" y="3108960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320040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Sanctions Screening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3749039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3749039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3840479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Equality &amp; Diversity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3749039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74720" y="3749039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3840479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Financial Compliance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749039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3749039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840479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Information Security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61120" y="3749039"/>
            <a:ext cx="24688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61120" y="3749039"/>
            <a:ext cx="4572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3840479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Regulatory Alert Feed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Every module produces audit-ready records that feed into the SRA Audit Workflow and Dashboard health score.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891B2"/>
                </a:solidFill>
                <a:latin typeface="Calibri"/>
              </a:rPr>
              <a:t>TRUST &amp; SECURITY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Built for firms that handle sensitive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029200" cy="11887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Calibri"/>
              </a:rPr>
              <a:t>AES-256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All data encrypted at rest. TLS 1.3 in transit. Enterprise-grade protection for every byte of compliance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5029200" cy="11887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Calibri"/>
              </a:rPr>
              <a:t>Row-Level Multi-Tenancy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Your firm's data is completely isolated from every other firm on the platform. No shared databases. No data leakage.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5029200" cy="11887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Calibri"/>
              </a:rPr>
              <a:t>Data Processing Agreement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Signed DPA template ready for your review. Clearly defined processing purposes, retention periods, and sub-processor lists.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108960"/>
            <a:ext cx="5029200" cy="11887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2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Calibri"/>
              </a:rPr>
              <a:t>Full Legal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6616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8 documents: Terms of Service, Privacy Policy, DPA, DPIA, Breach Notification Policy, Incident Response Plan, Cookie Policy, ROPA.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80560"/>
            <a:ext cx="5029200" cy="11887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Calibri"/>
              </a:rPr>
              <a:t>ICO Registered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Registered with the Information Commissioner's Office as a data processor. Full UK GDPR compliance.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480560"/>
            <a:ext cx="5029200" cy="11887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61772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Calibri"/>
              </a:rPr>
              <a:t>Human-in-the-Loop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93776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AI provides analysis and recommendations. Your qualified professionals make every decision. Full audit trail of all AI interactions.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THE RETURN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Seema pays for itself in the first month.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468880" cy="2011680"/>
          </a:xfrm>
          <a:prstGeom prst="rect">
            <a:avLst/>
          </a:prstGeom>
          <a:solidFill>
            <a:srgbClr val="162038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0B981"/>
                </a:solidFill>
                <a:latin typeface="Calibri"/>
              </a:rPr>
              <a:t>47hrs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saved per month
across 5 workflows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1828800"/>
            <a:ext cx="2468880" cy="2011680"/>
          </a:xfrm>
          <a:prstGeom prst="rect">
            <a:avLst/>
          </a:prstGeom>
          <a:solidFill>
            <a:srgbClr val="162038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10312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0B981"/>
                </a:solidFill>
                <a:latin typeface="Calibri"/>
              </a:rPr>
              <a:t>£11,750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01752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monthly value of
time recovered*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2468880" cy="2011680"/>
          </a:xfrm>
          <a:prstGeom prst="rect">
            <a:avLst/>
          </a:prstGeom>
          <a:solidFill>
            <a:srgbClr val="162038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0B981"/>
                </a:solidFill>
                <a:latin typeface="Calibri"/>
              </a:rPr>
              <a:t>79x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return on
investment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828800"/>
            <a:ext cx="2468880" cy="2011680"/>
          </a:xfrm>
          <a:prstGeom prst="rect">
            <a:avLst/>
          </a:prstGeom>
          <a:solidFill>
            <a:srgbClr val="162038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210312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91B2"/>
                </a:solidFill>
                <a:latin typeface="Calibri"/>
              </a:rPr>
              <a:t>&lt;5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01752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payback
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DC5D1"/>
                </a:solidFill>
                <a:latin typeface="Calibri"/>
              </a:rPr>
              <a:t>*Based on 8 fee-earners at £250/hour average blended rate. Your actual ROI will vary by firm size.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Calibri"/>
              </a:rPr>
              <a:t>PRICING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20640"/>
            <a:ext cx="10698480" cy="384048"/>
          </a:xfrm>
          <a:prstGeom prst="rect">
            <a:avLst/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66359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166359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91B2"/>
                </a:solidFill>
                <a:latin typeface="Calibri"/>
              </a:rPr>
              <a:t>£49/mo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166359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1-5 fee-earners  |  Core workflows  |  Basic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550407"/>
            <a:ext cx="10698480" cy="384048"/>
          </a:xfrm>
          <a:prstGeom prst="rect">
            <a:avLst/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96127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Professional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596127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91B2"/>
                </a:solidFill>
                <a:latin typeface="Calibri"/>
              </a:rPr>
              <a:t>£149/mo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596127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6-20 fee-earners  |  Full AI suite  |  All modules  |  Priority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980175"/>
            <a:ext cx="10698480" cy="384048"/>
          </a:xfrm>
          <a:prstGeom prst="rect">
            <a:avLst/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025895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6025895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91B2"/>
                </a:solidFill>
                <a:latin typeface="Calibri"/>
              </a:rPr>
              <a:t>£349/mo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025895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20+ fee-earners  |  Custom integrations  |  Dedicated success manager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SEEMA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BDC5D1"/>
                </a:solidFill>
                <a:latin typeface="Calibri"/>
              </a:rPr>
              <a:t>Stop managing compliance.</a:t>
            </a:r>
          </a:p>
          <a:p>
            <a:pPr algn="l">
              <a:spcBef>
                <a:spcPts val="0"/>
              </a:spcBef>
              <a:spcAft>
                <a:spcPts val="3000"/>
              </a:spcAft>
            </a:pPr>
            <a:r>
              <a:rPr sz="4800" b="1">
                <a:solidFill>
                  <a:srgbClr val="0891B2"/>
                </a:solidFill>
                <a:latin typeface="Calibri"/>
              </a:rPr>
              <a:t>Start automating it.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14-day free trial  |  No credit card  |  Pre-loaded from your SRA 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Calibri"/>
              </a:rPr>
              <a:t>hello@seema.legal  |  www.seema.legal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20116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102352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5029200"/>
            <a:ext cx="20116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5102352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512064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DC5D1"/>
                </a:solidFill>
                <a:latin typeface="Calibri"/>
              </a:rPr>
              <a:t>Regulatory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5029200"/>
            <a:ext cx="20116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5102352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512064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Breach Reporting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5029200"/>
            <a:ext cx="20116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5102352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512064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SRA Audit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5029200"/>
            <a:ext cx="2011680" cy="502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E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5102352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91B2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512064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Policy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Confidential  |  Seema Technologies Ltd  |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